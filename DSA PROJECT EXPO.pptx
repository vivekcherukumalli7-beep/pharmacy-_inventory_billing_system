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0" r:id="rId2"/>
  </p:sldMasterIdLst>
  <p:notesMasterIdLst>
    <p:notesMasterId r:id="rId18"/>
  </p:notesMasterIdLst>
  <p:handoutMasterIdLst>
    <p:handoutMasterId r:id="rId19"/>
  </p:handoutMasterIdLst>
  <p:sldIdLst>
    <p:sldId id="261" r:id="rId3"/>
    <p:sldId id="314" r:id="rId4"/>
    <p:sldId id="322" r:id="rId5"/>
    <p:sldId id="323" r:id="rId6"/>
    <p:sldId id="266" r:id="rId7"/>
    <p:sldId id="341" r:id="rId8"/>
    <p:sldId id="342" r:id="rId9"/>
    <p:sldId id="343" r:id="rId10"/>
    <p:sldId id="344" r:id="rId11"/>
    <p:sldId id="345" r:id="rId12"/>
    <p:sldId id="346" r:id="rId13"/>
    <p:sldId id="340" r:id="rId14"/>
    <p:sldId id="347" r:id="rId15"/>
    <p:sldId id="348" r:id="rId16"/>
    <p:sldId id="33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18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582"/>
    <p:restoredTop sz="95833"/>
  </p:normalViewPr>
  <p:slideViewPr>
    <p:cSldViewPr snapToGrid="0" snapToObjects="1">
      <p:cViewPr varScale="1">
        <p:scale>
          <a:sx n="89" d="100"/>
          <a:sy n="89" d="100"/>
        </p:scale>
        <p:origin x="25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51" d="100"/>
          <a:sy n="51" d="100"/>
        </p:scale>
        <p:origin x="3208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9F6064-4237-BA4C-A655-B64A9E0DF723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FBAABA-A336-9B4F-BB34-8D7F4005576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16374" cy="458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854B6-73EE-3647-B9F0-9FDDAF047BDA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329816-4D5E-3B44-810B-F5C416F14AE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734CB-DFAB-944A-8037-9643745D8F20}" type="datetime1">
              <a:rPr lang="en-IN" smtClean="0"/>
              <a:t>12-03-2026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12-03-2026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87228" y="60325"/>
            <a:ext cx="1532022" cy="620712"/>
          </a:xfrm>
          <a:prstGeom prst="rect">
            <a:avLst/>
          </a:prstGeom>
          <a:blipFill dpi="0" rotWithShape="1">
            <a:blip r:embed="rId2">
              <a:alphaModFix amt="78101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335F-2E5B-B14E-9706-E237C81E4155}" type="datetime1">
              <a:rPr lang="en-IN" smtClean="0"/>
              <a:t>12-03-2026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D6649-7156-A341-B9F2-F045B7551E13}" type="datetime1">
              <a:rPr lang="en-IN" smtClean="0"/>
              <a:t>12-03-2026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77CD1-E97C-BA41-8E49-9F39B98FFBE8}" type="datetime1">
              <a:rPr lang="en-IN" smtClean="0"/>
              <a:t>12-03-2026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DBCA1-9406-7A44-8A76-1046B4040777}" type="datetime1">
              <a:rPr lang="en-IN" smtClean="0"/>
              <a:t>12-03-2026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B085D-B69B-9C45-93A5-77F47F2F6792}" type="datetime1">
              <a:rPr lang="en-IN" smtClean="0"/>
              <a:t>12-03-2026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B69B7-E8EF-6346-9390-671C5B22ACF3}" type="datetime1">
              <a:rPr lang="en-IN" smtClean="0"/>
              <a:t>12-03-2026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0709D-BF3C-5743-B60D-B01C16014A7B}" type="datetime1">
              <a:rPr lang="en-IN" smtClean="0"/>
              <a:t>12-03-2026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444B0-6575-954F-AAA2-CB0D0417F745}" type="datetime1">
              <a:rPr lang="en-IN" smtClean="0"/>
              <a:t>12-03-2026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7A436-9AA5-6C4B-AFF1-C34F60A9AB89}" type="datetime1">
              <a:rPr lang="en-IN" smtClean="0"/>
              <a:t>12-03-2026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141C7-EF5A-1D4A-89F0-79C7DE818D53}" type="datetime1">
              <a:rPr lang="en-IN" smtClean="0"/>
              <a:t>12-03-2026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68A0C-C998-984C-ABE3-A33473D7CABD}" type="datetime1">
              <a:rPr lang="en-IN" smtClean="0"/>
              <a:t>12-03-2026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2EF84-6667-8447-AC88-082F9D71D82C}" type="datetime1">
              <a:rPr lang="en-IN" smtClean="0"/>
              <a:t>12-03-2026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63FD6-5C64-304A-9680-469E8D83D1BF}" type="datetime1">
              <a:rPr lang="en-IN" smtClean="0"/>
              <a:t>12-03-2026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985EC-8C41-0649-B43C-28421C497AA5}" type="datetime1">
              <a:rPr lang="en-IN" smtClean="0"/>
              <a:t>12-03-2026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85D85A-3465-384D-962A-D11BB8B39525}" type="datetime1">
              <a:rPr lang="en-IN" smtClean="0"/>
              <a:t>12-03-2026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F4C6E9-161C-B44B-AD70-8813DADCDED1}" type="datetime1">
              <a:rPr lang="en-IN" smtClean="0"/>
              <a:t>12-03-2026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INSTRUCTIONS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838200" y="1493134"/>
            <a:ext cx="10515600" cy="4683829"/>
          </a:xfrm>
        </p:spPr>
        <p:txBody>
          <a:bodyPr>
            <a:normAutofit fontScale="92500" lnSpcReduction="10000"/>
          </a:bodyPr>
          <a:lstStyle/>
          <a:p>
            <a:r>
              <a:rPr lang="en-IN"/>
              <a:t>Use </a:t>
            </a:r>
            <a:r>
              <a:rPr lang="en-IN" dirty="0"/>
              <a:t>Font size 22 to 28 and Font Style </a:t>
            </a:r>
            <a:r>
              <a:rPr lang="en-IN" b="0" i="0" dirty="0">
                <a:solidFill>
                  <a:srgbClr val="0A0A0A"/>
                </a:solidFill>
                <a:effectLst/>
                <a:latin typeface="Google Sans"/>
              </a:rPr>
              <a:t>Times New Roman </a:t>
            </a:r>
            <a:r>
              <a:rPr lang="en-IN" dirty="0"/>
              <a:t>(body)</a:t>
            </a:r>
          </a:p>
          <a:p>
            <a:r>
              <a:rPr lang="en-IN" dirty="0"/>
              <a:t>Do not change the Template: Heading / Title of the slides</a:t>
            </a:r>
          </a:p>
          <a:p>
            <a:r>
              <a:rPr lang="en-IN" dirty="0"/>
              <a:t>Do not change font style or colours</a:t>
            </a:r>
          </a:p>
          <a:p>
            <a:r>
              <a:rPr lang="en-IN" dirty="0"/>
              <a:t>Do not copy paste paragraphs: use only Bullet Points</a:t>
            </a:r>
          </a:p>
          <a:p>
            <a:r>
              <a:rPr lang="en-IN" dirty="0"/>
              <a:t>Maximum slide Limit is 20 only</a:t>
            </a:r>
          </a:p>
          <a:p>
            <a:r>
              <a:rPr lang="en-IN" dirty="0"/>
              <a:t>As per the number of supervisor allotted adopt slide-2 or slide-3</a:t>
            </a:r>
          </a:p>
          <a:p>
            <a:r>
              <a:rPr lang="en-IN" dirty="0"/>
              <a:t>Please display the required meaningful Content or images or tables </a:t>
            </a:r>
          </a:p>
          <a:p>
            <a:r>
              <a:rPr lang="en-IN" dirty="0"/>
              <a:t>Change the footer accordingly using insert tab then click on header &amp; footer tab and edit it</a:t>
            </a:r>
          </a:p>
          <a:p>
            <a:r>
              <a:rPr lang="en-IN" dirty="0"/>
              <a:t>Save the PPT with Register No, Dept and Review no,  example: </a:t>
            </a:r>
            <a:r>
              <a:rPr lang="en-US" dirty="0"/>
              <a:t>23xxxxxxxxx_CSE</a:t>
            </a:r>
            <a:endParaRPr lang="en-IN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E338F-74DD-D142-8C58-9E4C5E66F6E8}" type="datetime1">
              <a:rPr lang="en-IN" smtClean="0"/>
              <a:t>12-03-2026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4057" y="136525"/>
            <a:ext cx="11543614" cy="1128381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0070C0"/>
                </a:solidFill>
                <a:latin typeface="+mn-lt"/>
                <a:cs typeface="Arial" panose="020B0604020202020204" pitchFamily="34" charset="0"/>
              </a:rPr>
              <a:t>Title: Design and Development of Responsive Restaurant Website</a:t>
            </a:r>
            <a:endParaRPr lang="en-US" sz="2400" dirty="0">
              <a:solidFill>
                <a:srgbClr val="FF0000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149495"/>
            <a:ext cx="10515600" cy="1097555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buNone/>
            </a:pPr>
            <a:r>
              <a:rPr lang="en-US" sz="9600" dirty="0"/>
              <a:t>Student Name: CH.VIVEK</a:t>
            </a:r>
          </a:p>
          <a:p>
            <a:pPr marL="0" indent="0" algn="ctr">
              <a:buNone/>
            </a:pPr>
            <a:r>
              <a:rPr lang="en-US" sz="9600" dirty="0"/>
              <a:t>Student ID</a:t>
            </a:r>
            <a:r>
              <a:rPr lang="en-US" sz="9600"/>
              <a:t>: 2520030532</a:t>
            </a:r>
            <a:br>
              <a:rPr lang="en-US" sz="9600" dirty="0"/>
            </a:br>
            <a:br>
              <a:rPr lang="en-US" sz="9600" dirty="0"/>
            </a:br>
            <a:r>
              <a:rPr lang="en-US" sz="11200" dirty="0" err="1"/>
              <a:t>Cluster:4</a:t>
            </a:r>
            <a:endParaRPr lang="en-US" sz="11200" dirty="0"/>
          </a:p>
          <a:p>
            <a:pPr marL="0" indent="0" algn="ctr">
              <a:buNone/>
            </a:pPr>
            <a:r>
              <a:rPr lang="en-US" sz="11200" dirty="0"/>
              <a:t>Section: 14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BCEED-36AB-D94A-B562-4D3E096B39D1}" type="datetime1">
              <a:rPr lang="en-IN" smtClean="0"/>
              <a:t>12-03-2026</a:t>
            </a:fld>
            <a:endParaRPr lang="en-US"/>
          </a:p>
        </p:txBody>
      </p:sp>
      <p:pic>
        <p:nvPicPr>
          <p:cNvPr id="12" name="Picture 11" descr="A picture containing shape&#10;&#10;Description automatically generate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6361" y="5015918"/>
            <a:ext cx="1725712" cy="930978"/>
          </a:xfrm>
          <a:prstGeom prst="rect">
            <a:avLst/>
          </a:prstGeom>
        </p:spPr>
      </p:pic>
      <p:sp>
        <p:nvSpPr>
          <p:cNvPr id="13" name="Content Placeholder 3"/>
          <p:cNvSpPr txBox="1"/>
          <p:nvPr/>
        </p:nvSpPr>
        <p:spPr>
          <a:xfrm>
            <a:off x="838200" y="3332480"/>
            <a:ext cx="11199471" cy="1571945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600" dirty="0"/>
              <a:t>Under the Guidance </a:t>
            </a:r>
          </a:p>
          <a:p>
            <a:pPr marL="0" indent="0" algn="ctr">
              <a:buNone/>
            </a:pPr>
            <a:r>
              <a:rPr lang="en-US" sz="8600" dirty="0"/>
              <a:t>of </a:t>
            </a:r>
            <a:endParaRPr lang="en-US" sz="8600" dirty="0">
              <a:solidFill>
                <a:srgbClr val="00B050"/>
              </a:solidFill>
            </a:endParaRPr>
          </a:p>
          <a:p>
            <a:pPr marL="0" indent="0" algn="ctr">
              <a:buNone/>
            </a:pPr>
            <a:r>
              <a:rPr lang="en-US" sz="8600" dirty="0">
                <a:solidFill>
                  <a:srgbClr val="00B050"/>
                </a:solidFill>
              </a:rPr>
              <a:t>Supervisor Name:NM Deepika</a:t>
            </a:r>
          </a:p>
          <a:p>
            <a:pPr marL="0" indent="0" algn="ctr">
              <a:buNone/>
            </a:pPr>
            <a:r>
              <a:rPr lang="en-US" sz="8600" dirty="0">
                <a:solidFill>
                  <a:srgbClr val="00B050"/>
                </a:solidFill>
              </a:rPr>
              <a:t>Assistant Professor</a:t>
            </a:r>
          </a:p>
          <a:p>
            <a:pPr marL="0" indent="0" algn="ctr">
              <a:buNone/>
            </a:pPr>
            <a:r>
              <a:rPr lang="en-US" sz="8600" dirty="0">
                <a:solidFill>
                  <a:srgbClr val="00B050"/>
                </a:solidFill>
              </a:rPr>
              <a:t>Department of CSE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400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OUTLINE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838200" y="1493134"/>
            <a:ext cx="10515600" cy="4683829"/>
          </a:xfrm>
        </p:spPr>
        <p:txBody>
          <a:bodyPr>
            <a:normAutofit fontScale="6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dirty="0"/>
              <a:t>Abstract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Existing System 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Proposed System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System Architecture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Project Modules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Objectives 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Co’s Attainments - FWD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Co1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Co2 …….. 5. Co5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Co’s Attainments - DSA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Co1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Co2 …….. 5. Co5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Screen Shots for FWD &amp; DSA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Conclusion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Geo-Tagged Photos</a:t>
            </a:r>
          </a:p>
          <a:p>
            <a:pPr marL="514350" indent="-514350">
              <a:buFont typeface="+mj-lt"/>
              <a:buAutoNum type="arabicPeriod"/>
            </a:pPr>
            <a:endParaRPr lang="en-IN" dirty="0"/>
          </a:p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81120-93CB-BF4D-9125-DC4781C9106A}" type="datetime1">
              <a:rPr lang="en-IN" smtClean="0"/>
              <a:t>12-03-2026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Abstract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altLang="en-US" sz="1100" dirty="0"/>
              <a:t>Demonstrates the application of Data Structures and Algorithms in a Pharma Inventory &amp; Billing System.</a:t>
            </a:r>
          </a:p>
          <a:p>
            <a:pPr marL="0" indent="0">
              <a:buNone/>
            </a:pPr>
            <a:endParaRPr lang="en-US" altLang="en-US" sz="1100" dirty="0"/>
          </a:p>
          <a:p>
            <a:pPr marL="0" indent="0">
              <a:buNone/>
            </a:pPr>
            <a:r>
              <a:rPr lang="en-US" altLang="en-US" sz="1100" dirty="0"/>
              <a:t>Uses algorithms such as Searching and Sorting for efficient data management.</a:t>
            </a:r>
          </a:p>
          <a:p>
            <a:pPr marL="0" indent="0">
              <a:buNone/>
            </a:pPr>
            <a:endParaRPr lang="en-US" altLang="en-US" sz="1100" dirty="0"/>
          </a:p>
          <a:p>
            <a:pPr marL="0" indent="0">
              <a:buNone/>
            </a:pPr>
            <a:r>
              <a:rPr lang="en-US" altLang="en-US" sz="1100" dirty="0"/>
              <a:t>Implements List ADT for structured data organization.</a:t>
            </a:r>
          </a:p>
          <a:p>
            <a:pPr marL="0" indent="0">
              <a:buNone/>
            </a:pPr>
            <a:endParaRPr lang="en-US" altLang="en-US" sz="1100" dirty="0"/>
          </a:p>
          <a:p>
            <a:pPr marL="0" indent="0">
              <a:buNone/>
            </a:pPr>
            <a:r>
              <a:rPr lang="en-US" altLang="en-US" sz="1100" dirty="0"/>
              <a:t>Utilizes Linked Lists including Singly, Doubly, and Circular Linked Lists.</a:t>
            </a:r>
          </a:p>
          <a:p>
            <a:pPr marL="0" indent="0">
              <a:buNone/>
            </a:pPr>
            <a:endParaRPr lang="en-US" altLang="en-US" sz="1100" dirty="0"/>
          </a:p>
          <a:p>
            <a:pPr marL="0" indent="0">
              <a:buNone/>
            </a:pPr>
            <a:r>
              <a:rPr lang="en-US" altLang="en-US" sz="1100" dirty="0"/>
              <a:t>Applies Stack for arithmetic expression evaluation and balancing symbols in billing.</a:t>
            </a:r>
          </a:p>
          <a:p>
            <a:pPr marL="0" indent="0">
              <a:buNone/>
            </a:pPr>
            <a:endParaRPr lang="en-US" altLang="en-US" sz="1100" dirty="0"/>
          </a:p>
          <a:p>
            <a:pPr marL="0" indent="0">
              <a:buNone/>
            </a:pPr>
            <a:r>
              <a:rPr lang="en-US" altLang="en-US" sz="1100" dirty="0"/>
              <a:t>Uses Queue, Circular Queue, and Dequeue to manage customer billing flow and order processing.</a:t>
            </a:r>
          </a:p>
          <a:p>
            <a:pPr marL="0" indent="0">
              <a:buNone/>
            </a:pPr>
            <a:endParaRPr lang="en-US" altLang="en-US" sz="1100" dirty="0"/>
          </a:p>
          <a:p>
            <a:pPr marL="0" indent="0">
              <a:buNone/>
            </a:pPr>
            <a:r>
              <a:rPr lang="en-US" altLang="en-US" sz="1100" dirty="0"/>
              <a:t>Implements Hashing for fast medicine lookup in the inventory.</a:t>
            </a:r>
          </a:p>
          <a:p>
            <a:pPr marL="0" indent="0">
              <a:buNone/>
            </a:pPr>
            <a:endParaRPr lang="en-US" altLang="en-US" sz="1100" dirty="0"/>
          </a:p>
          <a:p>
            <a:pPr marL="0" indent="0">
              <a:buNone/>
            </a:pPr>
            <a:r>
              <a:rPr lang="en-US" altLang="en-US" sz="1100" dirty="0"/>
              <a:t>Uses Priority Queue (Binary Heap) to handle near-expiry medicines efficiently.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12-03-2026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4</a:t>
            </a:fld>
            <a:endParaRPr lang="en-US"/>
          </a:p>
        </p:txBody>
      </p:sp>
      <p:sp>
        <p:nvSpPr>
          <p:cNvPr id="2" name="Text Box 1"/>
          <p:cNvSpPr txBox="1"/>
          <p:nvPr/>
        </p:nvSpPr>
        <p:spPr>
          <a:xfrm>
            <a:off x="680085" y="180721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Existing System 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>
            <a:normAutofit fontScale="60000"/>
          </a:bodyPr>
          <a:lstStyle/>
          <a:p>
            <a:pPr marL="117475" lvl="1" indent="0" algn="just">
              <a:buNone/>
            </a:pPr>
            <a:r>
              <a:rPr lang="en-US" altLang="en-US" dirty="0"/>
              <a:t>Most medical stores use manual record keeping for inventory and billing.</a:t>
            </a:r>
          </a:p>
          <a:p>
            <a:pPr marL="117475" lvl="1" indent="0" algn="just">
              <a:buNone/>
            </a:pPr>
            <a:endParaRPr lang="en-US" altLang="en-US" dirty="0"/>
          </a:p>
          <a:p>
            <a:pPr marL="117475" lvl="1" indent="0" algn="just">
              <a:buNone/>
            </a:pPr>
            <a:r>
              <a:rPr lang="en-US" altLang="en-US" dirty="0"/>
              <a:t>Medicine stock details are maintained in registers or basic spreadsheets.</a:t>
            </a:r>
          </a:p>
          <a:p>
            <a:pPr marL="117475" lvl="1" indent="0" algn="just">
              <a:buNone/>
            </a:pPr>
            <a:endParaRPr lang="en-US" altLang="en-US" dirty="0"/>
          </a:p>
          <a:p>
            <a:pPr marL="117475" lvl="1" indent="0" algn="just">
              <a:buNone/>
            </a:pPr>
            <a:r>
              <a:rPr lang="en-US" altLang="en-US" dirty="0"/>
              <a:t>Tracking expiry dates manually is difficult and time-consuming.</a:t>
            </a:r>
          </a:p>
          <a:p>
            <a:pPr marL="117475" lvl="1" indent="0" algn="just">
              <a:buNone/>
            </a:pPr>
            <a:endParaRPr lang="en-US" altLang="en-US" dirty="0"/>
          </a:p>
          <a:p>
            <a:pPr marL="117475" lvl="1" indent="0" algn="just">
              <a:buNone/>
            </a:pPr>
            <a:r>
              <a:rPr lang="en-US" altLang="en-US" dirty="0"/>
              <a:t>Searching for medicine details takes more time due to lack of automated systems.</a:t>
            </a:r>
          </a:p>
          <a:p>
            <a:pPr marL="117475" lvl="1" indent="0" algn="just">
              <a:buNone/>
            </a:pPr>
            <a:endParaRPr lang="en-US" altLang="en-US" dirty="0"/>
          </a:p>
          <a:p>
            <a:pPr marL="117475" lvl="1" indent="0" algn="just">
              <a:buNone/>
            </a:pPr>
            <a:r>
              <a:rPr lang="en-US" altLang="en-US" dirty="0"/>
              <a:t>Billing calculations are done manually, which may lead to errors.</a:t>
            </a:r>
          </a:p>
          <a:p>
            <a:pPr marL="117475" lvl="1" indent="0" algn="just">
              <a:buNone/>
            </a:pPr>
            <a:endParaRPr lang="en-US" altLang="en-US" dirty="0"/>
          </a:p>
          <a:p>
            <a:pPr marL="117475" lvl="1" indent="0" algn="just">
              <a:buNone/>
            </a:pPr>
            <a:r>
              <a:rPr lang="en-US" altLang="en-US" dirty="0"/>
              <a:t>No efficient system to prioritize near-expiry medicines.</a:t>
            </a:r>
          </a:p>
          <a:p>
            <a:pPr marL="117475" lvl="1" indent="0" algn="just">
              <a:buNone/>
            </a:pPr>
            <a:endParaRPr lang="en-US" altLang="en-US" dirty="0"/>
          </a:p>
          <a:p>
            <a:pPr marL="117475" lvl="1" indent="0" algn="just">
              <a:buNone/>
            </a:pPr>
            <a:r>
              <a:rPr lang="en-US" altLang="en-US" dirty="0"/>
              <a:t>Difficult to manage large amounts of medicine data.</a:t>
            </a:r>
          </a:p>
          <a:p>
            <a:pPr marL="117475" lvl="1" indent="0" algn="just">
              <a:buNone/>
            </a:pPr>
            <a:endParaRPr lang="en-US" altLang="en-US" dirty="0"/>
          </a:p>
          <a:p>
            <a:pPr marL="117475" lvl="1" indent="0" algn="just">
              <a:buNone/>
            </a:pPr>
            <a:r>
              <a:rPr lang="en-US" altLang="en-US" dirty="0"/>
              <a:t>Lack of efficient searching and sorting mechanisms.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B9F02-6AB8-A348-9013-8FCBB8174821}" type="datetime1">
              <a:rPr lang="en-IN" smtClean="0"/>
              <a:t>12-03-2026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Proposed System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>
            <a:normAutofit fontScale="50000"/>
          </a:bodyPr>
          <a:lstStyle/>
          <a:p>
            <a:pPr marL="0" indent="0">
              <a:buNone/>
            </a:pPr>
            <a:r>
              <a:rPr lang="en-US" altLang="en-US" dirty="0"/>
              <a:t>Develop an automated Pharma Inventory &amp; Billing System using Data Structures and Algorithms.</a:t>
            </a:r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Maintain digital records of medicines, stock, and expiry dates for easy management.</a:t>
            </a:r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Use searching algorithms to quickly find medicine details.</a:t>
            </a:r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Apply sorting algorithms to organize medicines by price and expiry date.</a:t>
            </a:r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Implement Linked Lists for efficient storage and management of medicine data.</a:t>
            </a:r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Use Stacks for expression evaluation and billing calculations.</a:t>
            </a:r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Apply Queues and Circular Queues to manage customer billing flow.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12-03-2026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System Architecture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en-US" sz="1600" dirty="0"/>
              <a:t>The system is designed with multiple modules to manage pharmacy inventory and billing efficiently.</a:t>
            </a:r>
          </a:p>
          <a:p>
            <a:pPr marL="0" indent="0">
              <a:buNone/>
            </a:pPr>
            <a:endParaRPr lang="en-US" altLang="en-US" sz="1600" dirty="0"/>
          </a:p>
          <a:p>
            <a:pPr marL="0" indent="0">
              <a:buNone/>
            </a:pPr>
            <a:r>
              <a:rPr lang="en-US" altLang="en-US" sz="1600" dirty="0"/>
              <a:t>User Interface Module allows the user to enter medicine details, billing information, and search queries.</a:t>
            </a:r>
          </a:p>
          <a:p>
            <a:pPr marL="0" indent="0">
              <a:buNone/>
            </a:pPr>
            <a:endParaRPr lang="en-US" altLang="en-US" sz="1600" dirty="0"/>
          </a:p>
          <a:p>
            <a:pPr marL="0" indent="0">
              <a:buNone/>
            </a:pPr>
            <a:r>
              <a:rPr lang="en-US" altLang="en-US" sz="1600" dirty="0"/>
              <a:t>Inventory Management Module stores and updates medicine stock, price, and expiry date details.</a:t>
            </a:r>
          </a:p>
          <a:p>
            <a:pPr marL="0" indent="0">
              <a:buNone/>
            </a:pPr>
            <a:endParaRPr lang="en-US" altLang="en-US" sz="1600" dirty="0"/>
          </a:p>
          <a:p>
            <a:pPr marL="0" indent="0">
              <a:buNone/>
            </a:pPr>
            <a:r>
              <a:rPr lang="en-US" altLang="en-US" sz="1600" dirty="0"/>
              <a:t>Data Structures Module implements structures like Linked Lists, Stacks, Queues, Hash Tables, and Priority Queues for efficient data handling.</a:t>
            </a:r>
          </a:p>
          <a:p>
            <a:pPr marL="0" indent="0">
              <a:buNone/>
            </a:pPr>
            <a:endParaRPr lang="en-US" altLang="en-US" sz="1600" dirty="0"/>
          </a:p>
          <a:p>
            <a:pPr marL="0" indent="0">
              <a:buNone/>
            </a:pPr>
            <a:r>
              <a:rPr lang="en-US" altLang="en-US" sz="1600" dirty="0"/>
              <a:t>Searching Module retrieves medicine information quickly using efficient searching algorithms.</a:t>
            </a:r>
          </a:p>
          <a:p>
            <a:pPr marL="0" indent="0">
              <a:buNone/>
            </a:pPr>
            <a:endParaRPr lang="en-US" altLang="en-US" sz="1600" dirty="0"/>
          </a:p>
          <a:p>
            <a:pPr marL="0" indent="0">
              <a:buNone/>
            </a:pPr>
            <a:r>
              <a:rPr lang="en-US" altLang="en-US" sz="1600" dirty="0"/>
              <a:t>Sorting Module organizes medicines based on price, expiry date, or name.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12-03-2026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Project Modules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50000"/>
          </a:bodyPr>
          <a:lstStyle/>
          <a:p>
            <a:pPr marL="0" indent="0">
              <a:buNone/>
            </a:pPr>
            <a:r>
              <a:rPr lang="en-US" altLang="en-US" dirty="0"/>
              <a:t>User Interface Module – Allows users to interact with the system, enter medicine details, search medicines, and generate bills.</a:t>
            </a:r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Inventory Management Module – Manages medicine stock, price, quantity, and expiry date information.</a:t>
            </a:r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Searching Module – Uses searching algorithms to quickly find medicine details by ID or name.</a:t>
            </a:r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Sorting Module – Organizes medicines based on price or expiry date using sorting algorithms.</a:t>
            </a:r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Billing Module – Generates customer bills and performs price calculations for purchased medicines.</a:t>
            </a:r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Stack Module – Used for expression evaluation and balancing symbols during billing operations.</a:t>
            </a:r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Queue Module – Manages customer billing flow using Queue and Circular Queue.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12-03-2026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Objectives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>
            <a:normAutofit fontScale="50000"/>
          </a:bodyPr>
          <a:lstStyle/>
          <a:p>
            <a:pPr marL="0" indent="0">
              <a:buNone/>
            </a:pPr>
            <a:r>
              <a:rPr lang="en-US" altLang="en-US" dirty="0"/>
              <a:t>To design and develop a Pharma Inventory &amp; Billing System using Data Structures and Algorithms.</a:t>
            </a:r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To efficiently manage medicine stock, price, and expiry dates.</a:t>
            </a:r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To implement searching algorithms for quick retrieval of medicine information.</a:t>
            </a:r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To apply sorting algorithms to organize medicines by price and expiry date.</a:t>
            </a:r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To use Linked Lists for efficient storage and management of medicine records.</a:t>
            </a:r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To implement Stacks and Queues for handling billing operations and customer flow.</a:t>
            </a:r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To use Hashing techniques for fast lookup of medicines in the inventory.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12-03-2026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Co’s Attainments - FWD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838200" y="1252855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en-US" sz="1800" dirty="0"/>
              <a:t>CO-1: Implemented Searching algorithms using Linear Search to find medicines by ID and Sorting concepts for organizing medicine data like price and expiry date.</a:t>
            </a:r>
          </a:p>
          <a:p>
            <a:pPr marL="0" indent="0">
              <a:buNone/>
            </a:pPr>
            <a:endParaRPr lang="en-US" altLang="en-US" sz="1800" dirty="0"/>
          </a:p>
          <a:p>
            <a:pPr marL="0" indent="0">
              <a:buNone/>
            </a:pPr>
            <a:r>
              <a:rPr lang="en-US" altLang="en-US" sz="1800" dirty="0"/>
              <a:t>CO-2: Designed and implemented Abstract Data Types using Linked Lists. A Singly Linked List is used to store and manage medicine inventory (add and display medicines).</a:t>
            </a:r>
          </a:p>
          <a:p>
            <a:pPr marL="0" indent="0">
              <a:buNone/>
            </a:pPr>
            <a:endParaRPr lang="en-US" altLang="en-US" sz="1800" dirty="0"/>
          </a:p>
          <a:p>
            <a:pPr marL="0" indent="0">
              <a:buNone/>
            </a:pPr>
            <a:r>
              <a:rPr lang="en-US" altLang="en-US" sz="1800" dirty="0"/>
              <a:t>CO-3: Applied Stack concepts for arithmetic expression evaluation in billing operations and Queue concepts for managing customer billing flow.</a:t>
            </a:r>
          </a:p>
          <a:p>
            <a:pPr marL="0" indent="0">
              <a:buNone/>
            </a:pPr>
            <a:endParaRPr lang="en-US" altLang="en-US" sz="1800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12-03-2026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Co’s Attainments - FWD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721995" y="1336040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dirty="0"/>
              <a:t>CO-4: Implemented Priority Queue (Binary Heap) to efficiently process near-expiry medicines first based on expiry days.</a:t>
            </a:r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CO-5: Developed a practical application of Data Structures for managing pharmacy inventory, medicine details, and billing operations.</a:t>
            </a:r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CO-6: Built a Java-based application using Data Structures concepts, demonstrating real-world implementation of algorithms and data structures in a pharmacy management system.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12-03-2026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Screenshots for FWD &amp; DSA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12-03-2026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12</a:t>
            </a:fld>
            <a:endParaRPr lang="en-US"/>
          </a:p>
        </p:txBody>
      </p:sp>
      <p:pic>
        <p:nvPicPr>
          <p:cNvPr id="10" name="Content Placeholder 9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6240" y="1877060"/>
            <a:ext cx="5250815" cy="235458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635" y="3611880"/>
            <a:ext cx="4422140" cy="186880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Conclusion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altLang="en-US" sz="1800" dirty="0"/>
              <a:t>The Pharma Inventory &amp; Billing System demonstrates the practical application of Data Structures and Algorithms in a real-world pharmacy scenario.</a:t>
            </a:r>
          </a:p>
          <a:p>
            <a:pPr marL="0" indent="0">
              <a:buNone/>
            </a:pPr>
            <a:endParaRPr lang="en-US" altLang="en-US" sz="1800" dirty="0"/>
          </a:p>
          <a:p>
            <a:pPr marL="0" indent="0">
              <a:buNone/>
            </a:pPr>
            <a:r>
              <a:rPr lang="en-US" altLang="en-US" sz="1800" dirty="0"/>
              <a:t>The system efficiently manages medicine inventory, expiry dates, and billing operations.</a:t>
            </a:r>
          </a:p>
          <a:p>
            <a:pPr marL="0" indent="0">
              <a:buNone/>
            </a:pPr>
            <a:endParaRPr lang="en-US" altLang="en-US" sz="1800" dirty="0"/>
          </a:p>
          <a:p>
            <a:pPr marL="0" indent="0">
              <a:buNone/>
            </a:pPr>
            <a:r>
              <a:rPr lang="en-US" altLang="en-US" sz="1800" dirty="0"/>
              <a:t>Different data structures like Linked Lists, Stacks, Queues, Hash Tables, and Priority Queues improve data management and processing speed.</a:t>
            </a:r>
          </a:p>
          <a:p>
            <a:pPr marL="0" indent="0">
              <a:buNone/>
            </a:pPr>
            <a:endParaRPr lang="en-US" altLang="en-US" sz="1800" dirty="0"/>
          </a:p>
          <a:p>
            <a:pPr marL="0" indent="0">
              <a:buNone/>
            </a:pPr>
            <a:r>
              <a:rPr lang="en-US" altLang="en-US" sz="1800" dirty="0"/>
              <a:t>Searching and sorting algorithms help retrieve and organize medicine data quickly.</a:t>
            </a:r>
          </a:p>
          <a:p>
            <a:pPr marL="0" indent="0">
              <a:buNone/>
            </a:pPr>
            <a:endParaRPr lang="en-US" altLang="en-US" sz="1800" dirty="0"/>
          </a:p>
          <a:p>
            <a:pPr marL="0" indent="0">
              <a:buNone/>
            </a:pPr>
            <a:r>
              <a:rPr lang="en-US" altLang="en-US" sz="1800" dirty="0"/>
              <a:t>The implementation improves accuracy, efficiency, and speed compared to manual systems.</a:t>
            </a:r>
          </a:p>
          <a:p>
            <a:pPr marL="0" indent="0">
              <a:buNone/>
            </a:pPr>
            <a:endParaRPr lang="en-US" altLang="en-US" sz="1800" dirty="0"/>
          </a:p>
          <a:p>
            <a:pPr marL="0" indent="0">
              <a:buNone/>
            </a:pPr>
            <a:r>
              <a:rPr lang="en-US" altLang="en-US" sz="1800" dirty="0"/>
              <a:t>Overall, the project shows how Data Structures can be used to develop efficient and scalable applications.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12-03-2026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12-03-2026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14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838200" y="740780"/>
            <a:ext cx="10515600" cy="543618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r>
              <a:rPr lang="en-IN" sz="4400" dirty="0"/>
              <a:t>THANK YOU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D6276-EBF6-BB4A-A6C6-114A8D55B891}" type="datetime1">
              <a:rPr lang="en-IN" smtClean="0"/>
              <a:t>12-03-2026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1112</Words>
  <Application>Microsoft Office PowerPoint</Application>
  <PresentationFormat>Widescreen</PresentationFormat>
  <Paragraphs>194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Calibri Light</vt:lpstr>
      <vt:lpstr>Google Sans</vt:lpstr>
      <vt:lpstr>Office Theme</vt:lpstr>
      <vt:lpstr>Custom Design</vt:lpstr>
      <vt:lpstr>INSTRUCTIONS</vt:lpstr>
      <vt:lpstr>Title: Design and Development of Responsive Restaurant Website</vt:lpstr>
      <vt:lpstr>OUTLINE</vt:lpstr>
      <vt:lpstr>Abstract</vt:lpstr>
      <vt:lpstr>Existing System </vt:lpstr>
      <vt:lpstr>Proposed System</vt:lpstr>
      <vt:lpstr>System Architecture</vt:lpstr>
      <vt:lpstr>Project Modules</vt:lpstr>
      <vt:lpstr>Objectives</vt:lpstr>
      <vt:lpstr>Co’s Attainments - FWD</vt:lpstr>
      <vt:lpstr>Co’s Attainments - FWD</vt:lpstr>
      <vt:lpstr>Screenshots for FWD &amp; DSA</vt:lpstr>
      <vt:lpstr>Conclusion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SHAHANA BANO</dc:creator>
  <cp:lastModifiedBy>VIVEK CHOWDARY</cp:lastModifiedBy>
  <cp:revision>60</cp:revision>
  <dcterms:created xsi:type="dcterms:W3CDTF">2022-05-20T10:20:00Z</dcterms:created>
  <dcterms:modified xsi:type="dcterms:W3CDTF">2026-03-12T07:57:45Z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EC8CE74C719B40A0AB339F5A798191EA_13</vt:lpwstr>
  </property>
  <property fmtid="{D5CDD505-2E9C-101B-9397-08002B2CF9AE}" pid="3" name="KSOProductBuildVer">
    <vt:lpwstr>1033-12.2.0.23196</vt:lpwstr>
  </property>
</Properties>
</file>